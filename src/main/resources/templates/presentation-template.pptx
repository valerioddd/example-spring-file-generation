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2220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218098627351297E-2"/>
          <c:y val="0.12398523985239852"/>
          <c:w val="0.97356380274529741"/>
          <c:h val="0.75202952029520298"/>
        </c:manualLayout>
      </c:layout>
      <c:barChart>
        <c:barDir val="col"/>
        <c:grouping val="stacked"/>
        <c:varyColors val="0"/>
        <c:ser>
          <c:idx val="0"/>
          <c:order val="0"/>
          <c:tx>
            <c:v>Revenue (m€)</c:v>
          </c:tx>
          <c:spPr>
            <a:pattFill prst="narHorz">
              <a:fgClr>
                <a:schemeClr val="accent1"/>
              </a:fgClr>
              <a:bgClr>
                <a:schemeClr val="accent1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1"/>
              </a:innerShdw>
            </a:effectLst>
          </c:spPr>
          <c:invertIfNegative val="0"/>
          <c:dLbls>
            <c:dLbl>
              <c:idx val="0"/>
              <c:layout>
                <c:manualLayout>
                  <c:x val="0"/>
                  <c:y val="-6.1992619926199262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1</a:t>
                    </a:r>
                  </a:p>
                </c:rich>
              </c:tx>
              <c:numFmt formatCode="#,##0;&quot;-&quot;#,##0" sourceLinked="0"/>
              <c:spPr>
                <a:solidFill>
                  <a:schemeClr val="lt1"/>
                </a:solidFill>
                <a:ln>
                  <a:solidFill>
                    <a:schemeClr val="dk1">
                      <a:lumMod val="25000"/>
                      <a:lumOff val="75000"/>
                    </a:scheme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0-11B0-445A-96A1-F827D5FC7714}"/>
                </c:ext>
              </c:extLst>
            </c:dLbl>
            <c:dLbl>
              <c:idx val="1"/>
              <c:layout>
                <c:manualLayout>
                  <c:x val="0"/>
                  <c:y val="-2.9520295202952029E-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20</a:t>
                    </a:r>
                  </a:p>
                </c:rich>
              </c:tx>
              <c:numFmt formatCode="#,##0;&quot;-&quot;#,##0" sourceLinked="0"/>
              <c:spPr>
                <a:solidFill>
                  <a:schemeClr val="lt1"/>
                </a:solidFill>
                <a:ln>
                  <a:solidFill>
                    <a:schemeClr val="dk1">
                      <a:lumMod val="25000"/>
                      <a:lumOff val="75000"/>
                    </a:scheme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1-11B0-445A-96A1-F827D5FC7714}"/>
                </c:ext>
              </c:extLst>
            </c:dLbl>
            <c:dLbl>
              <c:idx val="2"/>
              <c:layout>
                <c:manualLayout>
                  <c:x val="0"/>
                  <c:y val="-2.2140221402214021E-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30</a:t>
                    </a:r>
                  </a:p>
                </c:rich>
              </c:tx>
              <c:numFmt formatCode="#,##0;&quot;-&quot;#,##0" sourceLinked="0"/>
              <c:spPr>
                <a:solidFill>
                  <a:schemeClr val="lt1"/>
                </a:solidFill>
                <a:ln>
                  <a:solidFill>
                    <a:schemeClr val="dk1">
                      <a:lumMod val="25000"/>
                      <a:lumOff val="75000"/>
                    </a:scheme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2-11B0-445A-96A1-F827D5FC7714}"/>
                </c:ext>
              </c:extLst>
            </c:dLbl>
            <c:dLbl>
              <c:idx val="3"/>
              <c:layout>
                <c:manualLayout>
                  <c:x val="0"/>
                  <c:y val="-2.9520295202952029E-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35</a:t>
                    </a:r>
                  </a:p>
                </c:rich>
              </c:tx>
              <c:numFmt formatCode="#,##0;&quot;-&quot;#,##0" sourceLinked="0"/>
              <c:spPr>
                <a:solidFill>
                  <a:schemeClr val="lt1"/>
                </a:solidFill>
                <a:ln>
                  <a:solidFill>
                    <a:schemeClr val="dk1">
                      <a:lumMod val="25000"/>
                      <a:lumOff val="75000"/>
                    </a:scheme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3-11B0-445A-96A1-F827D5FC7714}"/>
                </c:ext>
              </c:extLst>
            </c:dLbl>
            <c:dLbl>
              <c:idx val="4"/>
              <c:layout>
                <c:manualLayout>
                  <c:x val="0"/>
                  <c:y val="-2.2140221402214021E-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38</a:t>
                    </a:r>
                  </a:p>
                </c:rich>
              </c:tx>
              <c:numFmt formatCode="#,##0;&quot;-&quot;#,##0" sourceLinked="0"/>
              <c:spPr>
                <a:solidFill>
                  <a:schemeClr val="lt1"/>
                </a:solidFill>
                <a:ln>
                  <a:solidFill>
                    <a:schemeClr val="dk1">
                      <a:lumMod val="25000"/>
                      <a:lumOff val="75000"/>
                    </a:scheme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4-11B0-445A-96A1-F827D5FC7714}"/>
                </c:ext>
              </c:extLst>
            </c:dLbl>
            <c:dLbl>
              <c:idx val="5"/>
              <c:layout>
                <c:manualLayout>
                  <c:x val="0"/>
                  <c:y val="-2.2140221402214021E-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39</a:t>
                    </a:r>
                  </a:p>
                </c:rich>
              </c:tx>
              <c:numFmt formatCode="#,##0;&quot;-&quot;#,##0" sourceLinked="0"/>
              <c:spPr>
                <a:solidFill>
                  <a:schemeClr val="lt1"/>
                </a:solidFill>
                <a:ln>
                  <a:solidFill>
                    <a:schemeClr val="dk1">
                      <a:lumMod val="25000"/>
                      <a:lumOff val="75000"/>
                    </a:scheme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5-11B0-445A-96A1-F827D5FC7714}"/>
                </c:ext>
              </c:extLst>
            </c:dLbl>
            <c:dLbl>
              <c:idx val="6"/>
              <c:layout>
                <c:manualLayout>
                  <c:x val="0"/>
                  <c:y val="-2.2140221402214021E-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38</a:t>
                    </a:r>
                  </a:p>
                </c:rich>
              </c:tx>
              <c:numFmt formatCode="#,##0;&quot;-&quot;#,##0" sourceLinked="0"/>
              <c:spPr>
                <a:solidFill>
                  <a:schemeClr val="lt1"/>
                </a:solidFill>
                <a:ln>
                  <a:solidFill>
                    <a:schemeClr val="dk1">
                      <a:lumMod val="25000"/>
                      <a:lumOff val="75000"/>
                    </a:scheme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6-11B0-445A-96A1-F827D5FC7714}"/>
                </c:ext>
              </c:extLst>
            </c:dLbl>
            <c:dLbl>
              <c:idx val="7"/>
              <c:layout>
                <c:manualLayout>
                  <c:x val="0"/>
                  <c:y val="-2.2140221402214021E-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40</a:t>
                    </a:r>
                  </a:p>
                </c:rich>
              </c:tx>
              <c:numFmt formatCode="#,##0;&quot;-&quot;#,##0" sourceLinked="0"/>
              <c:spPr>
                <a:solidFill>
                  <a:schemeClr val="lt1"/>
                </a:solidFill>
                <a:ln>
                  <a:solidFill>
                    <a:schemeClr val="dk1">
                      <a:lumMod val="25000"/>
                      <a:lumOff val="75000"/>
                    </a:scheme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7-11B0-445A-96A1-F827D5FC7714}"/>
                </c:ext>
              </c:extLst>
            </c:dLbl>
            <c:dLbl>
              <c:idx val="8"/>
              <c:layout>
                <c:manualLayout>
                  <c:x val="0"/>
                  <c:y val="-2.9520295202952029E-3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60</a:t>
                    </a:r>
                  </a:p>
                </c:rich>
              </c:tx>
              <c:numFmt formatCode="#,##0;&quot;-&quot;#,##0" sourceLinked="0"/>
              <c:spPr>
                <a:solidFill>
                  <a:schemeClr val="lt1"/>
                </a:solidFill>
                <a:ln>
                  <a:solidFill>
                    <a:schemeClr val="dk1">
                      <a:lumMod val="25000"/>
                      <a:lumOff val="75000"/>
                    </a:scheme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  <c15:showDataLabelsRange val="0"/>
                </c:ext>
                <c:ext xmlns:c16="http://schemas.microsoft.com/office/drawing/2014/chart" uri="{C3380CC4-5D6E-409C-BE32-E72D297353CC}">
                  <c16:uniqueId val="{00000008-11B0-445A-96A1-F827D5FC77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#,##0;"-"#,##0</c:formatCode>
                <c:ptCount val="9"/>
                <c:pt idx="0">
                  <c:v>2.77402039</c:v>
                </c:pt>
                <c:pt idx="1">
                  <c:v>39.21340326</c:v>
                </c:pt>
                <c:pt idx="2">
                  <c:v>59.309347410000001</c:v>
                </c:pt>
                <c:pt idx="3">
                  <c:v>70.063966500000006</c:v>
                </c:pt>
                <c:pt idx="4">
                  <c:v>74.798167000000007</c:v>
                </c:pt>
                <c:pt idx="5">
                  <c:v>77.744223730000002</c:v>
                </c:pt>
                <c:pt idx="6">
                  <c:v>75.108711780000021</c:v>
                </c:pt>
                <c:pt idx="7">
                  <c:v>78.900000000000006</c:v>
                </c:pt>
                <c:pt idx="8">
                  <c:v>1000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11B0-445A-96A1-F827D5FC7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overlap val="100"/>
        <c:axId val="57061936"/>
        <c:axId val="1"/>
      </c:barChart>
      <c:lineChart>
        <c:grouping val="standard"/>
        <c:varyColors val="0"/>
        <c:ser>
          <c:idx val="1"/>
          <c:order val="1"/>
          <c:tx>
            <c:v>EBITDA Margin Adj. (%)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8%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separator>. </c:separator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11B0-445A-96A1-F827D5FC77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11B0-445A-96A1-F827D5FC771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13%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11B0-445A-96A1-F827D5FC771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11B0-445A-96A1-F827D5FC771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A5C2F2E-CD89-4623-B4CF-0CD3B506B15E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E-11B0-445A-96A1-F827D5FC771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dirty="0"/>
                      <a:t>18%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11B0-445A-96A1-F827D5FC771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11B0-445A-96A1-F827D5FC771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/>
                      <a:t>12%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11B0-445A-96A1-F827D5FC77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8.3000000000000007</c:v>
                </c:pt>
                <c:pt idx="1">
                  <c:v>9.0138530863133255</c:v>
                </c:pt>
                <c:pt idx="2">
                  <c:v>13.349205725141871</c:v>
                </c:pt>
                <c:pt idx="3">
                  <c:v>12.244554809782283</c:v>
                </c:pt>
                <c:pt idx="4">
                  <c:v>13</c:v>
                </c:pt>
                <c:pt idx="5">
                  <c:v>11.899999999999999</c:v>
                </c:pt>
                <c:pt idx="6">
                  <c:v>9.1999999999999993</c:v>
                </c:pt>
                <c:pt idx="7">
                  <c:v>10</c:v>
                </c:pt>
                <c:pt idx="8">
                  <c:v>11.5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2-11B0-445A-96A1-F827D5FC7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57061936"/>
        <c:scaling>
          <c:orientation val="minMax"/>
        </c:scaling>
        <c:delete val="0"/>
        <c:axPos val="b"/>
        <c:majorTickMark val="none"/>
        <c:minorTickMark val="none"/>
        <c:tickLblPos val="none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14.6"/>
          <c:min val="0"/>
        </c:scaling>
        <c:delete val="0"/>
        <c:axPos val="l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#,##0;&quot;-&quot;#,##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57061936"/>
        <c:crosses val="min"/>
        <c:crossBetween val="between"/>
      </c:valAx>
      <c:catAx>
        <c:axId val="2"/>
        <c:scaling>
          <c:orientation val="minMax"/>
        </c:scaling>
        <c:delete val="1"/>
        <c:axPos val="b"/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4.5"/>
          <c:min val="0"/>
        </c:scaling>
        <c:delete val="0"/>
        <c:axPos val="r"/>
        <c:majorGridlines>
          <c:spPr>
            <a:ln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2"/>
        <c:crosses val="max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0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15875" cap="flat" cmpd="sng" algn="ctr">
        <a:solidFill>
          <a:schemeClr val="tx1">
            <a:lumMod val="65000"/>
            <a:lumOff val="3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635000"/>
            <a:ext cx="7874000" cy="3175000"/>
          </a:xfrm>
          <a:prstGeom prst="rect">
            <a:avLst/>
          </a:prstGeom>
          <a:solidFill>
            <a:srgbClr val="4682B4"/>
          </a:solidFill>
        </p:spPr>
        <p:txBody>
          <a:bodyPr rtlCol="0" anchor="t"/>
          <a:lstStyle/>
          <a:p>
            <a:pPr algn="ctr">
              <a:defRPr/>
            </a:pPr>
            <a:r>
              <a:rPr lang="en-US" sz="2000">
                <a:solidFill>
                  <a:srgbClr val="FFFFFF"/>
                </a:solidFill>
              </a:rPr>
              <a:t>[Immagine Copertina]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4445000"/>
            <a:ext cx="7874000" cy="152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682B4"/>
            </a:solidFill>
          </a:ln>
        </p:spPr>
        <p:txBody>
          <a:bodyPr rtlCol="0" anchor="t"/>
          <a:lstStyle/>
          <a:p>
            <a:pPr algn="ctr">
              <a:defRPr/>
            </a:pPr>
            <a:r>
              <a:rPr lang="en-US" sz="4400" b="1" dirty="0">
                <a:solidFill>
                  <a:srgbClr val="4682B4"/>
                </a:solidFill>
                <a:latin typeface="Harlow Solid Italic" panose="04030604020F02020D02" pitchFamily="82" charset="0"/>
              </a:rPr>
              <a:t>{TITLE}test</a:t>
            </a:r>
            <a:endParaRPr lang="en-US" sz="1100" dirty="0">
              <a:latin typeface="Harlow Solid Italic" panose="04030604020F02020D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381000"/>
            <a:ext cx="7874000" cy="76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t"/>
          <a:lstStyle/>
          <a:p>
            <a:pPr algn="ctr">
              <a:defRPr/>
            </a:pPr>
            <a:r>
              <a:rPr lang="en-US" sz="3200" b="1">
                <a:solidFill>
                  <a:srgbClr val="333333"/>
                </a:solidFill>
              </a:rPr>
              <a:t>{CHART_TITLE}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1397000"/>
            <a:ext cx="2413000" cy="1905000"/>
          </a:xfrm>
          <a:prstGeom prst="rect">
            <a:avLst/>
          </a:prstGeom>
          <a:solidFill>
            <a:srgbClr val="F0F8FF"/>
          </a:solidFill>
          <a:ln w="25400">
            <a:solidFill>
              <a:srgbClr val="4682B4"/>
            </a:solidFill>
          </a:ln>
        </p:spPr>
        <p:txBody>
          <a:bodyPr rtlCol="0" anchor="t"/>
          <a:lstStyle/>
          <a:p>
            <a:pPr algn="ctr">
              <a:defRPr/>
            </a:pPr>
            <a:r>
              <a:rPr lang="en-US" sz="1800">
                <a:solidFill>
                  <a:srgbClr val="333333"/>
                </a:solidFill>
              </a:rPr>
              <a:t>{BOX1}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365500" y="1397000"/>
            <a:ext cx="2413000" cy="1905000"/>
          </a:xfrm>
          <a:prstGeom prst="rect">
            <a:avLst/>
          </a:prstGeom>
          <a:solidFill>
            <a:srgbClr val="F0F8FF"/>
          </a:solidFill>
          <a:ln w="25400">
            <a:solidFill>
              <a:srgbClr val="4682B4"/>
            </a:solidFill>
          </a:ln>
        </p:spPr>
        <p:txBody>
          <a:bodyPr rtlCol="0" anchor="t"/>
          <a:lstStyle/>
          <a:p>
            <a:pPr algn="ctr">
              <a:defRPr/>
            </a:pPr>
            <a:r>
              <a:rPr lang="en-US" sz="1800">
                <a:solidFill>
                  <a:srgbClr val="333333"/>
                </a:solidFill>
              </a:rPr>
              <a:t>{BOX2}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0" y="1397000"/>
            <a:ext cx="2413000" cy="1905000"/>
          </a:xfrm>
          <a:prstGeom prst="rect">
            <a:avLst/>
          </a:prstGeom>
          <a:solidFill>
            <a:srgbClr val="F0F8FF"/>
          </a:solidFill>
          <a:ln w="25400">
            <a:solidFill>
              <a:srgbClr val="4682B4"/>
            </a:solidFill>
          </a:ln>
        </p:spPr>
        <p:txBody>
          <a:bodyPr rtlCol="0" anchor="t"/>
          <a:lstStyle/>
          <a:p>
            <a:pPr algn="ctr">
              <a:defRPr/>
            </a:pPr>
            <a:r>
              <a:rPr lang="en-US" sz="1800">
                <a:solidFill>
                  <a:srgbClr val="333333"/>
                </a:solidFill>
              </a:rPr>
              <a:t>{BOX3}</a:t>
            </a:r>
            <a:endParaRPr lang="en-US" sz="1100"/>
          </a:p>
        </p:txBody>
      </p:sp>
      <p:graphicFrame>
        <p:nvGraphicFramePr>
          <p:cNvPr id="7" name="Chart 3">
            <a:extLst>
              <a:ext uri="{FF2B5EF4-FFF2-40B4-BE49-F238E27FC236}">
                <a16:creationId xmlns:a16="http://schemas.microsoft.com/office/drawing/2014/main" id="{135F4584-CA53-81DB-FD2F-EA1FCC927B71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6289430"/>
              </p:ext>
            </p:extLst>
          </p:nvPr>
        </p:nvGraphicFramePr>
        <p:xfrm>
          <a:off x="635000" y="3657600"/>
          <a:ext cx="7874000" cy="2819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1016000"/>
            <a:ext cx="7874000" cy="10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t"/>
          <a:lstStyle/>
          <a:p>
            <a:pPr algn="ctr">
              <a:defRPr/>
            </a:pPr>
            <a:r>
              <a:rPr lang="en-US" sz="4000" b="1">
                <a:solidFill>
                  <a:srgbClr val="4682B4"/>
                </a:solidFill>
              </a:rPr>
              <a:t>Grazie per l'attenzione!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270000" y="2794000"/>
            <a:ext cx="6604000" cy="25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t"/>
          <a:lstStyle/>
          <a:p>
            <a:pPr algn="ctr">
              <a:defRPr/>
            </a:pPr>
            <a:r>
              <a:rPr lang="en-US" sz="2000">
                <a:solidFill>
                  <a:srgbClr val="333333"/>
                </a:solidFill>
              </a:rPr>
              <a:t>Questa presentazione è stata generata automaticamente.
Per ulteriori informazioni, contattaci all'indirizzo:
info@example.com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oGXQ6tFj6ArNtWkn3jc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hart1-formatted.xml>bash: xmllint: command not found
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On-screen Show (4:3)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Harlow Solid Italic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Ditta, Valerio</cp:lastModifiedBy>
  <cp:revision>3</cp:revision>
  <dcterms:created xsi:type="dcterms:W3CDTF">2006-08-16T00:00:00Z</dcterms:created>
  <dcterms:modified xsi:type="dcterms:W3CDTF">2025-11-05T14:05:34Z</dcterms:modified>
</cp:coreProperties>
</file>